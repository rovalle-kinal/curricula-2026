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69680" y="0"/>
            <a:ext cx="3337560" cy="685800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0"/>
            <a:ext cx="2331720" cy="685800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21792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1">
                <a:solidFill>
                  <a:srgbClr val="DEA641"/>
                </a:solidFill>
                <a:latin typeface="Aptos"/>
              </a:rPr>
              <a:t>LIDERAZGO · CULTURA · TALENTO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7589520" cy="12344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"/>
              </a:rPr>
              <a:t>DESARROLLO
PERSONAL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676656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Aptos"/>
              </a:rPr>
              <a:t>Una estrategia humana para impulsar el crecimiento de las personas y de la organización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68580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D2DEEB"/>
                </a:solidFill>
                <a:latin typeface="Aptos"/>
              </a:rPr>
              <a:t>Presentación ejecutiva para líderes de Recursos Humanos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4663440"/>
            <a:ext cx="502920" cy="1143000"/>
          </a:xfrm>
          <a:prstGeom prst="round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89720" y="3931920"/>
            <a:ext cx="502920" cy="187451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21240" y="3063240"/>
            <a:ext cx="502920" cy="2743200"/>
          </a:xfrm>
          <a:prstGeom prst="roundRect">
            <a:avLst/>
          </a:prstGeom>
          <a:solidFill>
            <a:srgbClr val="BE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01 · PUNTO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El desarrollo personal es una decisión estratégica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La organización crece de manera sostenible cuando crea condiciones para que las personas también crezcan.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148840"/>
            <a:ext cx="73152" cy="242316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700" b="1">
                <a:solidFill>
                  <a:srgbClr val="142743"/>
                </a:solidFill>
                <a:latin typeface="Aptos"/>
              </a:rPr>
              <a:t>PERSONAS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70632"/>
            <a:ext cx="3136392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500" b="0">
                <a:solidFill>
                  <a:srgbClr val="25303D"/>
                </a:solidFill>
                <a:latin typeface="Aptos"/>
              </a:rPr>
              <a:t>Cada colaborador es único, digno y capaz de aprender, decidir y aportar.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73152" cy="242316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700" b="1">
                <a:solidFill>
                  <a:srgbClr val="142743"/>
                </a:solidFill>
                <a:latin typeface="Aptos"/>
              </a:rPr>
              <a:t>CULTURA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70632"/>
            <a:ext cx="3136392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500" b="0">
                <a:solidFill>
                  <a:srgbClr val="25303D"/>
                </a:solidFill>
                <a:latin typeface="Aptos"/>
              </a:rPr>
              <a:t>La comunicación, la confianza y la apertura al cambio hacen posible el desarrollo.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52044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48840"/>
            <a:ext cx="73152" cy="242316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700" b="1">
                <a:solidFill>
                  <a:srgbClr val="142743"/>
                </a:solidFill>
                <a:latin typeface="Aptos"/>
              </a:rPr>
              <a:t>RESULTADOS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70632"/>
            <a:ext cx="3136392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500" b="0">
                <a:solidFill>
                  <a:srgbClr val="25303D"/>
                </a:solidFill>
                <a:latin typeface="Aptos"/>
              </a:rPr>
              <a:t>El crecimiento individual fortalece capacidades, colaboración y desempeño colectivo.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24128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2000" b="1">
                <a:solidFill>
                  <a:srgbClr val="142743"/>
                </a:solidFill>
                <a:latin typeface="Aptos"/>
              </a:rPr>
              <a:t>La gestión del talento no consiste solo en cubrir puestos: consiste en desarrollar personas.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02 · FUNDAMENTO HUMANO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La persona está en el centro de la organización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documento parte de una visión integral: cada ser humano posee dignidad, libertad, inteligencia y voluntad.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4290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73152" cy="251460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DIGNIDAD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70632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El valor de una persona no depende de su cargo, salario, conocimientos o posición social.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73152" cy="251460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1343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LIBERTAD Y RESPONSABILIDAD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770632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La capacidad de elegir implica asumir consecuencias y responder por las propias decisiones.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48840"/>
            <a:ext cx="342900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48840"/>
            <a:ext cx="73152" cy="251460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1343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CAPACIDAD DE CRECER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770632"/>
            <a:ext cx="3044952" cy="1764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La persona es inacabada: puede aprender, perfeccionarse y desarrollar nuevas capacidades.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2064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42743"/>
                </a:solidFill>
                <a:latin typeface="Aptos"/>
              </a:rPr>
              <a:t>Implicación para RR. HH.: tratar a las personas como protagonistas, no como recursos intercambiables.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03 · QUÉ ENTENDEMOS POR DESARROLLO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Desarrollarse es avanzar hacia un 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desarrollo personal es un proceso consciente de perfeccionamiento: aprender, buscar el bien y la verdad, y actuar con libertad.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5720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8B8F"/>
                </a:solidFill>
                <a:latin typeface="Aptos"/>
              </a:rPr>
              <a:t>TRES CONDICIONES CLAVE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69748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697480"/>
            <a:ext cx="73152" cy="205740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86207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DIRECCIÓN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319272"/>
            <a:ext cx="3044952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Tener un propósito y metas que orienten las decisiones.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9748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97480"/>
            <a:ext cx="73152" cy="205740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86207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LIBERTAD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319272"/>
            <a:ext cx="3044952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Elegir crecer; no reducir el desarrollo a cumplir instrucciones.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269748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01000" y="2697480"/>
            <a:ext cx="73152" cy="205740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86207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ESFUERZO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3319272"/>
            <a:ext cx="3044952" cy="1307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Salir de la comodidad, aprender y perseverar ante las dificultades.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12080"/>
            <a:ext cx="100584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900" b="1">
                <a:solidFill>
                  <a:srgbClr val="142743"/>
                </a:solidFill>
                <a:latin typeface="Aptos"/>
              </a:rPr>
              <a:t>Sin propósito hay dispersión; sin acción no hay transformación.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04 · COMUNICACIÓN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La buena comunicación convierte la intención en colaboración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La comunicación efectiva permite alinear expectativas, construir confianza y coordinar el trabajo.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51460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ESCUCHAR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3136392" cy="1764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Comprender antes de responder. Dar espacio a ideas, inquietudes y propuestas.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73152" cy="251460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HABLAR CON CLARIDAD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70632"/>
            <a:ext cx="3136392" cy="1764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Comunicar objetivos, prioridades, decisiones y retroalimentación de forma oportuna.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48840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48840"/>
            <a:ext cx="73152" cy="251460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CONSTRUIR CONFIANZA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770632"/>
            <a:ext cx="3136392" cy="17647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Promover conversaciones respetuosas, coherencia y apertura para señalar problemas.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42743"/>
                </a:solidFill>
                <a:latin typeface="Aptos"/>
              </a:rPr>
              <a:t>Para RR. HH.: la comunicación no es un canal; es una práctica diaria de liderazgo.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05 · ADAPTACIÓN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La resistencia al cambio puede convertirse en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documento advierte que el temor al cambio, la comodidad y el conformismo frenan el desarrollo.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73152" cy="256032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RECONOCER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770632"/>
            <a:ext cx="3136392" cy="1810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Identificar temores, hábitos, dudas y pérdidas percibidas. Escuchar sin etiquetar.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14884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73152" cy="256032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DAR SENTIDO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770632"/>
            <a:ext cx="3136392" cy="1810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Explicar por qué cambia la organización, qué se espera y cómo afecta a cada equipo.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2148840"/>
            <a:ext cx="352044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2148840"/>
            <a:ext cx="73152" cy="256032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2313432"/>
            <a:ext cx="315468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ACOMPAÑAR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770632"/>
            <a:ext cx="3136392" cy="18105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Ofrecer formación, apoyo, participación y tiempo para practicar nuevas formas de trabajar.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8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800" b="1">
                <a:solidFill>
                  <a:srgbClr val="142743"/>
                </a:solidFill>
                <a:latin typeface="Aptos"/>
              </a:rPr>
              <a:t>La apertura al cambio no se impone: se comprende, se practica y se fortalece.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06 · CRECIMIENTO ORGANIZACIONAL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Crecer dentro de la empresa requiere oportunidades y responsabilidad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desarrollo ocurre en el ámbito de la actuación: también en el trabajo y en la relación con los demás.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07</a:t>
            </a:r>
          </a:p>
        </p:txBody>
      </p:sp>
      <p:sp>
        <p:nvSpPr>
          <p:cNvPr id="8" name="Oval 7"/>
          <p:cNvSpPr/>
          <p:nvPr/>
        </p:nvSpPr>
        <p:spPr>
          <a:xfrm>
            <a:off x="1417320" y="2240280"/>
            <a:ext cx="594360" cy="594360"/>
          </a:xfrm>
          <a:prstGeom prst="ellipse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386584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743"/>
                </a:solidFill>
                <a:latin typeface="Aptos"/>
              </a:rPr>
              <a:t>DESCUBRIR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520440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F6F80"/>
                </a:solidFill>
                <a:latin typeface="Aptos"/>
              </a:rPr>
              <a:t>Fortalezas, intereses y brechas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542032"/>
            <a:ext cx="2148840" cy="0"/>
          </a:xfrm>
          <a:prstGeom prst="line">
            <a:avLst/>
          </a:prstGeom>
          <a:ln w="2540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297680" y="2240280"/>
            <a:ext cx="594360" cy="594360"/>
          </a:xfrm>
          <a:prstGeom prst="ellipse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386584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6324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743"/>
                </a:solidFill>
                <a:latin typeface="Aptos"/>
              </a:rPr>
              <a:t>PREPARAR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20440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F6F80"/>
                </a:solidFill>
                <a:latin typeface="Aptos"/>
              </a:rPr>
              <a:t>Formación, práctica y mentoría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37760" y="2542032"/>
            <a:ext cx="2148840" cy="0"/>
          </a:xfrm>
          <a:prstGeom prst="line">
            <a:avLst/>
          </a:prstGeom>
          <a:ln w="2540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7178040" y="2240280"/>
            <a:ext cx="594360" cy="594360"/>
          </a:xfrm>
          <a:prstGeom prst="ellipse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386584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06324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743"/>
                </a:solidFill>
                <a:latin typeface="Aptos"/>
              </a:rPr>
              <a:t>APLICAR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520440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F6F80"/>
                </a:solidFill>
                <a:latin typeface="Aptos"/>
              </a:rPr>
              <a:t>Nuevos retos y responsabilidades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18119" y="2542032"/>
            <a:ext cx="2148841" cy="0"/>
          </a:xfrm>
          <a:prstGeom prst="line">
            <a:avLst/>
          </a:prstGeom>
          <a:ln w="25400">
            <a:solidFill>
              <a:srgbClr val="DCE4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058400" y="2240280"/>
            <a:ext cx="594360" cy="594360"/>
          </a:xfrm>
          <a:prstGeom prst="ellipse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0" y="2386584"/>
            <a:ext cx="5943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06324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500" b="1">
                <a:solidFill>
                  <a:srgbClr val="142743"/>
                </a:solidFill>
                <a:latin typeface="Aptos"/>
              </a:rPr>
              <a:t>PROYECTAR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520440"/>
            <a:ext cx="210312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5F6F80"/>
                </a:solidFill>
                <a:latin typeface="Aptos"/>
              </a:rPr>
              <a:t>Movilidad, especialización y liderazgo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024128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42743"/>
                </a:solidFill>
                <a:latin typeface="Aptos"/>
              </a:rPr>
              <a:t>Una carrera profesional sostenible combina iniciativa individual con oportunidades reales y transparentes de la organización.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07 · VISIÓN INTEGRAL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El desarrollo debe ser armónico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documento señala que la persona se desarrolla en distintos ámbitos; el trabajo es importante, pero no es el único.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48840"/>
            <a:ext cx="73152" cy="123444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FÍSICO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70632"/>
            <a:ext cx="295351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Bienestar y energía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1488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2148840"/>
            <a:ext cx="73152" cy="123444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27448" y="2313432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FAMILIAR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2770632"/>
            <a:ext cx="295351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Relaciones y apoyo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4884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148840"/>
            <a:ext cx="73152" cy="123444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2313432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LABORAL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2770632"/>
            <a:ext cx="295351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Competencias y propósito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65760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06040" y="3657600"/>
            <a:ext cx="73152" cy="1234440"/>
          </a:xfrm>
          <a:prstGeom prst="rect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7208" y="3822191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4279392"/>
            <a:ext cx="295351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Colaboración y comunidad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57600"/>
            <a:ext cx="3337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3657600"/>
            <a:ext cx="73152" cy="123444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3822191"/>
            <a:ext cx="297180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ESPIRITUAL / INTERIOR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279392"/>
            <a:ext cx="2953512" cy="4846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Sentido y coherencia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94960"/>
            <a:ext cx="1014984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42743"/>
                </a:solidFill>
                <a:latin typeface="Aptos"/>
              </a:rPr>
              <a:t>Una cultura saludable reconoce a la persona completa y favorece el equilibrio sostenible.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08 ·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Un proceso práctico para desarrollar talento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documento propone analizar la situación, fijar metas y convertir el querer, saber y poder en acciones.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331720"/>
            <a:ext cx="2103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331720"/>
            <a:ext cx="73152" cy="260604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4963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ANALIZAR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953512"/>
            <a:ext cx="1719072" cy="1856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Ser realistas; reconocer fortalezas, brechas y hechos sin buscar culpables.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79" y="2331720"/>
            <a:ext cx="2103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79" y="2331720"/>
            <a:ext cx="73152" cy="260604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24963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DEFINIR METAS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953512"/>
            <a:ext cx="1719072" cy="1856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Establecer objetivos de corto, mediano y largo plazo.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2331720"/>
            <a:ext cx="2103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2331720"/>
            <a:ext cx="73152" cy="260604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58968" y="24963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QUERER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8968" y="2953512"/>
            <a:ext cx="1719072" cy="1856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Traducir la intención en compromisos y acciones concretas desde hoy.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2331720"/>
            <a:ext cx="2103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19" y="2331720"/>
            <a:ext cx="73152" cy="2606040"/>
          </a:xfrm>
          <a:prstGeom prst="rect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0688" y="24963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SABER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90688" y="2953512"/>
            <a:ext cx="1719072" cy="1856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Aprender: estudiar, preguntar, observar, capacitarse y especializarse.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21240" y="2331720"/>
            <a:ext cx="2103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921240" y="2331720"/>
            <a:ext cx="73152" cy="260604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2408" y="2496312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PODER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22408" y="2953512"/>
            <a:ext cx="1719072" cy="18562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200" b="0">
                <a:solidFill>
                  <a:srgbClr val="25303D"/>
                </a:solidFill>
                <a:latin typeface="Aptos"/>
              </a:rPr>
              <a:t>Buscar oportunidades, crear condiciones y darse a conocer.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600" b="1">
                <a:solidFill>
                  <a:srgbClr val="142743"/>
                </a:solidFill>
                <a:latin typeface="Aptos"/>
              </a:rPr>
              <a:t>La oportunidad se aprovecha mejor cuando la persona se ha preparado para reconocerla y asumirla.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09 · MENTALIDAD DE CRECIMIENTO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El error no debe convertirse en estancamiento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El documento reconoce que habrá errores y fracasos parciales; la clave es levantarse y extraer experiencia.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73152" cy="2423160"/>
          </a:xfrm>
          <a:prstGeom prst="rect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35915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816352"/>
            <a:ext cx="3044952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Conformismo, exceso de confianza, temor a preguntar y la idea de que ya lo sabemos todo.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9456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94560"/>
            <a:ext cx="73152" cy="2423160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35915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APRENDER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816352"/>
            <a:ext cx="3044952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Revisar lo ocurrido, identificar causas y convertir la experiencia en conocimiento.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9456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2194560"/>
            <a:ext cx="73152" cy="2423160"/>
          </a:xfrm>
          <a:prstGeom prst="rect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2359152"/>
            <a:ext cx="3063240" cy="34747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600" b="1">
                <a:solidFill>
                  <a:srgbClr val="142743"/>
                </a:solidFill>
                <a:latin typeface="Aptos"/>
              </a:rPr>
              <a:t>AVANZAR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16352"/>
            <a:ext cx="3044952" cy="1673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Ajustar el plan, pedir apoyo y volver a intentarlo con responsabilidad.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700" b="1">
                <a:solidFill>
                  <a:srgbClr val="142743"/>
                </a:solidFill>
                <a:latin typeface="Aptos"/>
              </a:rPr>
              <a:t>La experiencia solo genera desarrollo cuando se reflexiona y se transforma en mejores decisiones.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000" b="1">
                <a:solidFill>
                  <a:srgbClr val="148B8F"/>
                </a:solidFill>
                <a:latin typeface="Aptos"/>
              </a:rPr>
              <a:t>10 · AGENDA EJECUTIVA DE RR. HH.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2700" b="1">
                <a:solidFill>
                  <a:srgbClr val="142743"/>
                </a:solidFill>
                <a:latin typeface="Aptos"/>
              </a:rPr>
              <a:t>¿Qué debe impulsar la organización?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298448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300" b="0">
                <a:solidFill>
                  <a:srgbClr val="5F6F80"/>
                </a:solidFill>
                <a:latin typeface="Aptos"/>
              </a:rPr>
              <a:t>Una propuesta de aplicación empresarial derivada de los principios del documento.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" y="1755648"/>
            <a:ext cx="777240" cy="50292"/>
          </a:xfrm>
          <a:prstGeom prst="rect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F6F80"/>
                </a:solidFill>
                <a:latin typeface="Aptos"/>
              </a:rP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066544"/>
            <a:ext cx="438912" cy="438912"/>
          </a:xfrm>
          <a:prstGeom prst="ellipse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57984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29968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LIDERAZGO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2996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Formar jefaturas que escuchen, comuniquen con claridad y den retroalimentación.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2852928"/>
            <a:ext cx="438912" cy="438912"/>
          </a:xfrm>
          <a:prstGeom prst="ellipse">
            <a:avLst/>
          </a:prstGeom>
          <a:solidFill>
            <a:srgbClr val="DEA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44368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16352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CARRERA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2816352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Hacer visibles rutas de crecimiento, criterios de promoción y oportunidades internas.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639312"/>
            <a:ext cx="438912" cy="438912"/>
          </a:xfrm>
          <a:prstGeom prst="ellipse">
            <a:avLst/>
          </a:prstGeom>
          <a:solidFill>
            <a:srgbClr val="27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30752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602736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APRENDIZAJE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3602736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Vincular formación con retos reales, especialización y transferencia al puesto.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425696"/>
            <a:ext cx="438912" cy="438912"/>
          </a:xfrm>
          <a:prstGeom prst="ellipse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17136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389120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CAMBIO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389120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Involucrar a los equipos, explicar el propósito y acompañar la adopción.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212080"/>
            <a:ext cx="438912" cy="438912"/>
          </a:xfrm>
          <a:prstGeom prst="ellipse">
            <a:avLst/>
          </a:prstGeom>
          <a:solidFill>
            <a:srgbClr val="148B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438912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5175504"/>
            <a:ext cx="18288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1">
                <a:solidFill>
                  <a:srgbClr val="142743"/>
                </a:solidFill>
                <a:latin typeface="Aptos"/>
              </a:rPr>
              <a:t>SEGUIMIENTO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175504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400" b="0">
                <a:solidFill>
                  <a:srgbClr val="25303D"/>
                </a:solidFill>
                <a:latin typeface="Aptos"/>
              </a:rPr>
              <a:t>Acordar metas individuales y revisar avances en conversaciones periódicas.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73952"/>
            <a:ext cx="5486400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800" b="0">
                <a:solidFill>
                  <a:srgbClr val="5F6F80"/>
                </a:solidFill>
                <a:latin typeface="Aptos"/>
              </a:rPr>
              <a:t>DESARROLLO PERSONAL | LIDERAZGO Y TALENTO HUMANO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100" b="1">
                <a:solidFill>
                  <a:srgbClr val="DEA641"/>
                </a:solidFill>
                <a:latin typeface="Aptos"/>
              </a:rPr>
              <a:t>CIERRE · COMPROMISO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875520" cy="8229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Una organización que desarrolla personas,
construye futuro.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9784080" cy="6400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1800" b="0">
                <a:solidFill>
                  <a:srgbClr val="DCE6F0"/>
                </a:solidFill>
                <a:latin typeface="Aptos"/>
              </a:rPr>
              <a:t>El crecimiento no ocurre por casualidad: requiere propósito, libertad, esfuerzo, aprendizaje y oportunidades.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3246120" cy="1097280"/>
          </a:xfrm>
          <a:prstGeom prst="roundRect">
            <a:avLst/>
          </a:prstGeom>
          <a:solidFill>
            <a:srgbClr val="223C5B"/>
          </a:solidFill>
          <a:ln>
            <a:solidFill>
              <a:srgbClr val="45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432511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EA641"/>
                </a:solidFill>
                <a:latin typeface="Aptos"/>
              </a:rPr>
              <a:t>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7091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Dignidad y responsabilidad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4160520"/>
            <a:ext cx="3246120" cy="1097280"/>
          </a:xfrm>
          <a:prstGeom prst="roundRect">
            <a:avLst/>
          </a:prstGeom>
          <a:solidFill>
            <a:srgbClr val="223C5B"/>
          </a:solidFill>
          <a:ln>
            <a:solidFill>
              <a:srgbClr val="45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432511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EA641"/>
                </a:solidFill>
                <a:latin typeface="Aptos"/>
              </a:rPr>
              <a:t>LIDERAZGO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47091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Comunicación y confianza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60520"/>
            <a:ext cx="3246120" cy="1097280"/>
          </a:xfrm>
          <a:prstGeom prst="roundRect">
            <a:avLst/>
          </a:prstGeom>
          <a:solidFill>
            <a:srgbClr val="223C5B"/>
          </a:solidFill>
          <a:ln>
            <a:solidFill>
              <a:srgbClr val="4564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4325112"/>
            <a:ext cx="28803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DEA641"/>
                </a:solidFill>
                <a:latin typeface="Aptos"/>
              </a:rPr>
              <a:t>ORGANIZACIÓN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47091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Aptos"/>
              </a:rPr>
              <a:t>Oportunidades y aprendizaje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r>
              <a:rPr sz="900" b="0">
                <a:solidFill>
                  <a:srgbClr val="B9CADC"/>
                </a:solidFill>
                <a:latin typeface="Aptos"/>
              </a:rPr>
              <a:t>DESARROLLO PERSONAL | PRESENTACIÓN EJECUTIVA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